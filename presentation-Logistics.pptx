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8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F7332-72FB-4386-8CE9-895BBD9A5A24}" v="1" dt="2026-09-29T05:10:17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 kg" userId="06ffd36554a11803" providerId="LiveId" clId="{9F994717-2105-469C-9E32-95243E76EF90}"/>
    <pc:docChg chg="modSld">
      <pc:chgData name="nisha kg" userId="06ffd36554a11803" providerId="LiveId" clId="{9F994717-2105-469C-9E32-95243E76EF90}" dt="2026-09-29T05:11:27.351" v="5" actId="1076"/>
      <pc:docMkLst>
        <pc:docMk/>
      </pc:docMkLst>
      <pc:sldChg chg="modSp mod">
        <pc:chgData name="nisha kg" userId="06ffd36554a11803" providerId="LiveId" clId="{9F994717-2105-469C-9E32-95243E76EF90}" dt="2026-09-29T05:11:27.351" v="5" actId="1076"/>
        <pc:sldMkLst>
          <pc:docMk/>
          <pc:sldMk cId="3986113600" sldId="257"/>
        </pc:sldMkLst>
        <pc:spChg chg="mod">
          <ac:chgData name="nisha kg" userId="06ffd36554a11803" providerId="LiveId" clId="{9F994717-2105-469C-9E32-95243E76EF90}" dt="2026-09-29T05:11:27.351" v="5" actId="1076"/>
          <ac:spMkLst>
            <pc:docMk/>
            <pc:sldMk cId="3986113600" sldId="257"/>
            <ac:spMk id="26" creationId="{3FF526E2-6123-C6E9-AA2A-A6C5D6A88951}"/>
          </ac:spMkLst>
        </pc:spChg>
      </pc:sldChg>
      <pc:sldChg chg="modSp mod">
        <pc:chgData name="nisha kg" userId="06ffd36554a11803" providerId="LiveId" clId="{9F994717-2105-469C-9E32-95243E76EF90}" dt="2026-09-29T04:59:49.669" v="0" actId="14100"/>
        <pc:sldMkLst>
          <pc:docMk/>
          <pc:sldMk cId="1141651907" sldId="259"/>
        </pc:sldMkLst>
        <pc:spChg chg="mod">
          <ac:chgData name="nisha kg" userId="06ffd36554a11803" providerId="LiveId" clId="{9F994717-2105-469C-9E32-95243E76EF90}" dt="2026-09-29T04:59:49.669" v="0" actId="14100"/>
          <ac:spMkLst>
            <pc:docMk/>
            <pc:sldMk cId="1141651907" sldId="259"/>
            <ac:spMk id="24" creationId="{88534424-CE93-833E-5799-62D3B57616DD}"/>
          </ac:spMkLst>
        </pc:spChg>
      </pc:sldChg>
      <pc:sldChg chg="modSp mod">
        <pc:chgData name="nisha kg" userId="06ffd36554a11803" providerId="LiveId" clId="{9F994717-2105-469C-9E32-95243E76EF90}" dt="2026-09-29T05:09:51.413" v="4" actId="1076"/>
        <pc:sldMkLst>
          <pc:docMk/>
          <pc:sldMk cId="2142320589" sldId="260"/>
        </pc:sldMkLst>
        <pc:spChg chg="mod">
          <ac:chgData name="nisha kg" userId="06ffd36554a11803" providerId="LiveId" clId="{9F994717-2105-469C-9E32-95243E76EF90}" dt="2026-09-29T05:09:45.522" v="3" actId="1076"/>
          <ac:spMkLst>
            <pc:docMk/>
            <pc:sldMk cId="2142320589" sldId="260"/>
            <ac:spMk id="8" creationId="{9EABFB2D-244A-2305-A4FD-2B97DA80E8E0}"/>
          </ac:spMkLst>
        </pc:spChg>
        <pc:spChg chg="mod">
          <ac:chgData name="nisha kg" userId="06ffd36554a11803" providerId="LiveId" clId="{9F994717-2105-469C-9E32-95243E76EF90}" dt="2026-09-29T05:09:37.523" v="2" actId="1076"/>
          <ac:spMkLst>
            <pc:docMk/>
            <pc:sldMk cId="2142320589" sldId="260"/>
            <ac:spMk id="9" creationId="{64FE133F-31D8-6C39-E93E-EA1DDAA1E67A}"/>
          </ac:spMkLst>
        </pc:spChg>
        <pc:picChg chg="mod">
          <ac:chgData name="nisha kg" userId="06ffd36554a11803" providerId="LiveId" clId="{9F994717-2105-469C-9E32-95243E76EF90}" dt="2026-09-29T05:09:51.413" v="4" actId="1076"/>
          <ac:picMkLst>
            <pc:docMk/>
            <pc:sldMk cId="2142320589" sldId="260"/>
            <ac:picMk id="15" creationId="{5E39FD54-23AA-38C7-2B64-8DA86EEA2450}"/>
          </ac:picMkLst>
        </pc:picChg>
        <pc:picChg chg="mod">
          <ac:chgData name="nisha kg" userId="06ffd36554a11803" providerId="LiveId" clId="{9F994717-2105-469C-9E32-95243E76EF90}" dt="2026-09-29T05:09:33.982" v="1" actId="14100"/>
          <ac:picMkLst>
            <pc:docMk/>
            <pc:sldMk cId="2142320589" sldId="260"/>
            <ac:picMk id="17" creationId="{C85C9DA9-B4AD-B9B7-0769-3475F53502A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 mix 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Delivered</c:v>
                </c:pt>
                <c:pt idx="1">
                  <c:v>In Transit</c:v>
                </c:pt>
                <c:pt idx="2">
                  <c:v>Cancelled</c:v>
                </c:pt>
                <c:pt idx="3">
                  <c:v>Delayed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 formatCode="0%">
                  <c:v>0.41</c:v>
                </c:pt>
                <c:pt idx="1">
                  <c:v>0.29299999999999998</c:v>
                </c:pt>
                <c:pt idx="2">
                  <c:v>0.158</c:v>
                </c:pt>
                <c:pt idx="3">
                  <c:v>0.13800000000000001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80-40AC-A759-AEFEAE1DAEE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022596039131473"/>
          <c:y val="5.6564927054778363E-2"/>
          <c:w val="0.82149379623001673"/>
          <c:h val="0.74198300690391739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Delay Rate by Carrier</c:v>
                </c:pt>
              </c:strCache>
            </c:strRef>
          </c:tx>
          <c:spPr>
            <a:pattFill prst="ltUpDiag">
              <a:fgClr>
                <a:schemeClr val="accent1">
                  <a:tint val="77000"/>
                </a:schemeClr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XpressBees</c:v>
                </c:pt>
                <c:pt idx="1">
                  <c:v>Ecom Express</c:v>
                </c:pt>
                <c:pt idx="2">
                  <c:v>DTDC</c:v>
                </c:pt>
                <c:pt idx="3">
                  <c:v>Shadowfax</c:v>
                </c:pt>
                <c:pt idx="4">
                  <c:v>Delhivery</c:v>
                </c:pt>
                <c:pt idx="5">
                  <c:v>BlueDart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11.7</c:v>
                </c:pt>
                <c:pt idx="1">
                  <c:v>12.1</c:v>
                </c:pt>
                <c:pt idx="2">
                  <c:v>12.3</c:v>
                </c:pt>
                <c:pt idx="3">
                  <c:v>14.6</c:v>
                </c:pt>
                <c:pt idx="4">
                  <c:v>14.9</c:v>
                </c:pt>
                <c:pt idx="5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FF-4F58-9F68-471C1A798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872659664"/>
        <c:axId val="1894601264"/>
      </c:barChart>
      <c:catAx>
        <c:axId val="1872659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4601264"/>
        <c:crosses val="autoZero"/>
        <c:auto val="1"/>
        <c:lblAlgn val="ctr"/>
        <c:lblOffset val="100"/>
        <c:noMultiLvlLbl val="0"/>
      </c:catAx>
      <c:valAx>
        <c:axId val="1894601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2659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b="0" dirty="0">
                <a:latin typeface="Cambria" panose="02040503050406030204" pitchFamily="18" charset="0"/>
                <a:ea typeface="Cambria" panose="02040503050406030204" pitchFamily="18" charset="0"/>
              </a:rPr>
              <a:t>Average Delay (days) by Destination Zones</a:t>
            </a:r>
          </a:p>
          <a:p>
            <a:pPr>
              <a:defRPr/>
            </a:pPr>
            <a:endParaRPr lang="en-IN" dirty="0"/>
          </a:p>
        </c:rich>
      </c:tx>
      <c:layout>
        <c:manualLayout>
          <c:xMode val="edge"/>
          <c:yMode val="edge"/>
          <c:x val="0.21610505913073288"/>
          <c:y val="2.29982979649826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Delay (days) by Destination Zones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 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41.8</c:v>
                </c:pt>
                <c:pt idx="1">
                  <c:v>49.7</c:v>
                </c:pt>
                <c:pt idx="2">
                  <c:v>54.2</c:v>
                </c:pt>
                <c:pt idx="3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1-47E2-B008-95C9965975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 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6F1-47E2-B008-95C9965975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6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 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6F1-47E2-B008-95C996597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1904396496"/>
        <c:axId val="1956852944"/>
      </c:barChart>
      <c:catAx>
        <c:axId val="190439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852944"/>
        <c:crosses val="autoZero"/>
        <c:auto val="1"/>
        <c:lblAlgn val="ctr"/>
        <c:lblOffset val="100"/>
        <c:noMultiLvlLbl val="0"/>
      </c:catAx>
      <c:valAx>
        <c:axId val="195685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39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24B0-850C-C166-2A64-61C7A9EDD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A4C87-EC24-B1D0-FB1A-46D121883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4491D-423B-D462-50B8-C79E60F8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D172-FB4D-36BD-0E49-D804C9D8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D58C-7834-094F-5B1C-53755AA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5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2576-D172-1A5B-8741-45D97223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7FC56-9514-9E39-A6E5-FB66ED9F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888AF-CDF4-0D7C-76AD-6FE99A7F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3342B-A5D1-E17B-3B1D-5B6B9B84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C4B8-E375-371B-2C25-D477915A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7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7B06-78F5-FD21-201F-3D42440F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EFAB2-1C97-22AF-B3EF-5DE88A56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32534-69FA-A206-E49C-A9C505CCB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39128-027F-5D91-FD28-41ADF08E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83913-F156-226F-1000-9D606062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58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08AD-9929-79A8-E743-B160A674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55AC-5949-515A-AA1E-989A30DF3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E2DA8-C9A9-A876-7CD0-E606A2733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4FAF2-2A1D-1787-F7FA-721E8A5F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085C2-79EF-63BF-65B5-783C3E8E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C05E5-4F4A-B7EF-F4F5-4C909CA2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50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FD22-9761-81E2-95A7-9D8612238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A125-876B-8DD3-B073-7A295CB1F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3FA0C-924C-B3E1-8839-9396D43F0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C5BEF-C73A-C74B-DCA7-1FF1BC568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32D93-9BAC-5F71-987E-B2685CEA1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F48D0-5C62-9051-D2FE-5A25E302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7044D-E251-A847-98C7-DD05C2BE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BF8C8-3663-76FF-4D77-601443CF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4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E33C-5247-4D36-3318-EF61A551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B633C-1929-5E13-982E-C8F0697C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725CF-15CF-4C65-E912-DBACE9CB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BA287-4FD5-5ADB-B8D0-2524A063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19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A6EFD-556A-A43B-8AE8-61F6C2E1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A43C6-3D12-4D41-9FDB-F85A0B47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25305-7597-F336-55D6-647BA2BD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EC64-1832-9306-FE29-B04CB92B3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357A-496E-8D9A-A535-FFE9D4933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4823E-5FC8-697C-F809-079F1A9F3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AA791-D4C0-3108-F7A6-50F6A770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D0CD3-226C-9D0D-870B-1FFD08B7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F56AA-C77F-F5AE-0CD7-67A28C43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90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8B68-8A15-208A-4D5F-5AE578E4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8A7989-4F56-B60D-47C1-EAEDBFCD4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69F44-BA03-581D-8DCB-CA6018455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1705A-7414-1F2F-7787-3FC52B11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B2068-072D-49BB-C542-6713FD16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B5CCA-64D7-C254-142B-1EFAB5C6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4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2EC4-ECFC-6CFD-18D4-561425DA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2522E-F0CE-EAF0-5289-173480AD8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2D17D-7C09-7BF7-3079-7CDE4434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8496B-98F5-EA38-BF99-17395792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4265E-28F6-DE59-6C18-BAAF5CD4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18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16BCB-FF47-6427-EE22-B80404684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5053B-CE8A-A37F-1520-AE2DD5244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6EEEB-D173-83B4-6C1D-0863870B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765B2-05F5-BE13-8A11-1B329678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8B4BC-CC5A-8C24-2F86-4B66C09B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95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E0412-AA1A-85BE-648E-61C44699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093DE-2845-1A54-2E53-1B8B75574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93D9-89B7-DAB2-57DC-68BE1B81C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AF426-F029-4F18-8844-9FA09DFC6AE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F0FD-5103-D490-AD64-87A33C767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6CDC-0558-2A80-53D2-ABE004CB4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0938B-F5AD-47D6-944B-100A424C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97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nishakg2002@gmail.com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8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3F371-C32F-B16D-0F5E-BCBE04729EF9}"/>
              </a:ext>
            </a:extLst>
          </p:cNvPr>
          <p:cNvSpPr/>
          <p:nvPr/>
        </p:nvSpPr>
        <p:spPr>
          <a:xfrm>
            <a:off x="-1" y="1"/>
            <a:ext cx="8955741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* Power BI Dashboard * Business Insights </a:t>
            </a:r>
          </a:p>
        </p:txBody>
      </p:sp>
      <p:pic>
        <p:nvPicPr>
          <p:cNvPr id="8" name="Graphic 7" descr="Map with pin with solid fill">
            <a:extLst>
              <a:ext uri="{FF2B5EF4-FFF2-40B4-BE49-F238E27FC236}">
                <a16:creationId xmlns:a16="http://schemas.microsoft.com/office/drawing/2014/main" id="{730C078A-B127-8701-5253-4BF265EB9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56295" y="1816769"/>
            <a:ext cx="2482515" cy="2482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6EEEBD-7D4E-DC55-8482-D3FB21EF3B4E}"/>
              </a:ext>
            </a:extLst>
          </p:cNvPr>
          <p:cNvSpPr txBox="1"/>
          <p:nvPr/>
        </p:nvSpPr>
        <p:spPr>
          <a:xfrm>
            <a:off x="0" y="-1"/>
            <a:ext cx="8955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LOGISTICS DELIVERY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60BDE-D26C-0BFA-2E54-34BAEFA65AAA}"/>
              </a:ext>
            </a:extLst>
          </p:cNvPr>
          <p:cNvSpPr txBox="1"/>
          <p:nvPr/>
        </p:nvSpPr>
        <p:spPr>
          <a:xfrm>
            <a:off x="-1" y="2550695"/>
            <a:ext cx="87269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Messy Shipment Data to Actionable Insights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55AA92-ED31-4ABC-F78D-536283A7951A}"/>
              </a:ext>
            </a:extLst>
          </p:cNvPr>
          <p:cNvCxnSpPr/>
          <p:nvPr/>
        </p:nvCxnSpPr>
        <p:spPr>
          <a:xfrm>
            <a:off x="0" y="4074695"/>
            <a:ext cx="944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43F345-0337-B747-DCF9-047F45A7130A}"/>
              </a:ext>
            </a:extLst>
          </p:cNvPr>
          <p:cNvSpPr txBox="1"/>
          <p:nvPr/>
        </p:nvSpPr>
        <p:spPr>
          <a:xfrm>
            <a:off x="1" y="5406189"/>
            <a:ext cx="2069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</a:rPr>
              <a:t>Nisha K G</a:t>
            </a:r>
          </a:p>
          <a:p>
            <a:r>
              <a:rPr lang="en-IN" sz="2400" b="1" dirty="0">
                <a:solidFill>
                  <a:schemeClr val="bg2"/>
                </a:solidFill>
              </a:rPr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420070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B8377A-F821-E64E-73A4-F697C25F14AC}"/>
              </a:ext>
            </a:extLst>
          </p:cNvPr>
          <p:cNvSpPr txBox="1"/>
          <p:nvPr/>
        </p:nvSpPr>
        <p:spPr>
          <a:xfrm>
            <a:off x="128337" y="240633"/>
            <a:ext cx="1127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Turning a real-world shipment dataset into a reliable delivery –performance story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9C5713-25C8-A308-B411-2FFD5FB84223}"/>
              </a:ext>
            </a:extLst>
          </p:cNvPr>
          <p:cNvSpPr/>
          <p:nvPr/>
        </p:nvSpPr>
        <p:spPr>
          <a:xfrm>
            <a:off x="3279100" y="1700979"/>
            <a:ext cx="2160000" cy="3240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6F2C20-7719-4A77-3383-F048A3746C76}"/>
              </a:ext>
            </a:extLst>
          </p:cNvPr>
          <p:cNvSpPr/>
          <p:nvPr/>
        </p:nvSpPr>
        <p:spPr>
          <a:xfrm>
            <a:off x="6252797" y="1700978"/>
            <a:ext cx="2160000" cy="3240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9506E7-EF08-8FB2-7AC3-D8DA5B5E916C}"/>
              </a:ext>
            </a:extLst>
          </p:cNvPr>
          <p:cNvSpPr/>
          <p:nvPr/>
        </p:nvSpPr>
        <p:spPr>
          <a:xfrm>
            <a:off x="9330813" y="1700980"/>
            <a:ext cx="2160000" cy="3240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2DAFC9-E3CC-CAED-C910-14C19492876C}"/>
              </a:ext>
            </a:extLst>
          </p:cNvPr>
          <p:cNvSpPr/>
          <p:nvPr/>
        </p:nvSpPr>
        <p:spPr>
          <a:xfrm>
            <a:off x="275301" y="1700980"/>
            <a:ext cx="2160001" cy="3240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B3BF33-29E7-17E9-B1EB-D1A4D66AEFAD}"/>
              </a:ext>
            </a:extLst>
          </p:cNvPr>
          <p:cNvSpPr/>
          <p:nvPr/>
        </p:nvSpPr>
        <p:spPr>
          <a:xfrm>
            <a:off x="725302" y="2169000"/>
            <a:ext cx="1260000" cy="1260000"/>
          </a:xfrm>
          <a:prstGeom prst="ellipse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0BD973-E497-1A18-2788-89D483C65B05}"/>
              </a:ext>
            </a:extLst>
          </p:cNvPr>
          <p:cNvSpPr/>
          <p:nvPr/>
        </p:nvSpPr>
        <p:spPr>
          <a:xfrm>
            <a:off x="3714049" y="2169000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0C2BB5-FFCA-4CB6-59CC-C76D0A649AB1}"/>
              </a:ext>
            </a:extLst>
          </p:cNvPr>
          <p:cNvSpPr/>
          <p:nvPr/>
        </p:nvSpPr>
        <p:spPr>
          <a:xfrm>
            <a:off x="6702797" y="2169000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E05D95-D7F3-6F7C-ECA9-1CC8E7B7B1CA}"/>
              </a:ext>
            </a:extLst>
          </p:cNvPr>
          <p:cNvSpPr/>
          <p:nvPr/>
        </p:nvSpPr>
        <p:spPr>
          <a:xfrm>
            <a:off x="9772528" y="2160131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6" name="Graphic 15" descr="Database with solid fill">
            <a:extLst>
              <a:ext uri="{FF2B5EF4-FFF2-40B4-BE49-F238E27FC236}">
                <a16:creationId xmlns:a16="http://schemas.microsoft.com/office/drawing/2014/main" id="{88EA2229-3B7D-03F2-D39B-14835299F0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102" y="2341800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0C233A-A27C-DAB3-EC30-7A6BFEC3A1FE}"/>
              </a:ext>
            </a:extLst>
          </p:cNvPr>
          <p:cNvSpPr txBox="1"/>
          <p:nvPr/>
        </p:nvSpPr>
        <p:spPr>
          <a:xfrm>
            <a:off x="393290" y="3504353"/>
            <a:ext cx="1927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1630 shipment records across carriers ,warehouse , zones and delivery modes nationwide.</a:t>
            </a:r>
          </a:p>
        </p:txBody>
      </p:sp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A0FD9D3F-379F-67A9-CF48-91C79A5EC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080" y="2229158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F37F83-0F69-EB1A-0CB8-4F1A172249AC}"/>
              </a:ext>
            </a:extLst>
          </p:cNvPr>
          <p:cNvSpPr txBox="1"/>
          <p:nvPr/>
        </p:nvSpPr>
        <p:spPr>
          <a:xfrm flipH="1">
            <a:off x="3279097" y="3504352"/>
            <a:ext cx="2190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Inconsistent formatting , duplicates , typos and missing values made the raw data unreliable for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37E346-B06A-0273-3509-3AE4F6E684E2}"/>
              </a:ext>
            </a:extLst>
          </p:cNvPr>
          <p:cNvSpPr txBox="1"/>
          <p:nvPr/>
        </p:nvSpPr>
        <p:spPr>
          <a:xfrm>
            <a:off x="338757" y="1798428"/>
            <a:ext cx="205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Dataset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57CF6-4452-2489-A592-178EF345E719}"/>
              </a:ext>
            </a:extLst>
          </p:cNvPr>
          <p:cNvSpPr txBox="1"/>
          <p:nvPr/>
        </p:nvSpPr>
        <p:spPr>
          <a:xfrm>
            <a:off x="3533446" y="1769589"/>
            <a:ext cx="168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Problem</a:t>
            </a:r>
          </a:p>
        </p:txBody>
      </p:sp>
      <p:pic>
        <p:nvPicPr>
          <p:cNvPr id="25" name="Graphic 24" descr="Upward trend with solid fill">
            <a:extLst>
              <a:ext uri="{FF2B5EF4-FFF2-40B4-BE49-F238E27FC236}">
                <a16:creationId xmlns:a16="http://schemas.microsoft.com/office/drawing/2014/main" id="{CCFEAF84-F1DD-D426-D266-576290A9F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7756" y="2341800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F526E2-6123-C6E9-AA2A-A6C5D6A88951}"/>
              </a:ext>
            </a:extLst>
          </p:cNvPr>
          <p:cNvSpPr txBox="1"/>
          <p:nvPr/>
        </p:nvSpPr>
        <p:spPr>
          <a:xfrm flipH="1">
            <a:off x="6542442" y="1705179"/>
            <a:ext cx="168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Approach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39620D-A00C-E96B-7FBD-0BE32F19CCCA}"/>
              </a:ext>
            </a:extLst>
          </p:cNvPr>
          <p:cNvSpPr txBox="1"/>
          <p:nvPr/>
        </p:nvSpPr>
        <p:spPr>
          <a:xfrm>
            <a:off x="6448927" y="3420133"/>
            <a:ext cx="1980000" cy="1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Clean and standardize the data and then build a Power BI dashboard to surface delivery performance trends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06AC6D-B607-9CC9-903D-763A637ECC13}"/>
              </a:ext>
            </a:extLst>
          </p:cNvPr>
          <p:cNvSpPr txBox="1"/>
          <p:nvPr/>
        </p:nvSpPr>
        <p:spPr>
          <a:xfrm>
            <a:off x="9606116" y="1798427"/>
            <a:ext cx="159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Goal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D1ACE3-D128-795A-A830-8FBBC7499504}"/>
              </a:ext>
            </a:extLst>
          </p:cNvPr>
          <p:cNvSpPr txBox="1"/>
          <p:nvPr/>
        </p:nvSpPr>
        <p:spPr>
          <a:xfrm>
            <a:off x="9304942" y="3592932"/>
            <a:ext cx="22676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Identify where delays happen and give logistics teams clear data backed recommendations</a:t>
            </a:r>
          </a:p>
        </p:txBody>
      </p:sp>
      <p:pic>
        <p:nvPicPr>
          <p:cNvPr id="31" name="Graphic 30" descr="Bullseye with solid fill">
            <a:extLst>
              <a:ext uri="{FF2B5EF4-FFF2-40B4-BE49-F238E27FC236}">
                <a16:creationId xmlns:a16="http://schemas.microsoft.com/office/drawing/2014/main" id="{84528C5F-4A8D-2DE1-8031-A5239D4AE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5328" y="2284529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D1348C3-B1F3-D534-0288-BAA398D257DE}"/>
              </a:ext>
            </a:extLst>
          </p:cNvPr>
          <p:cNvSpPr txBox="1"/>
          <p:nvPr/>
        </p:nvSpPr>
        <p:spPr>
          <a:xfrm>
            <a:off x="338757" y="5430232"/>
            <a:ext cx="2700000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1562</a:t>
            </a:r>
          </a:p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Cleaned shipment records</a:t>
            </a:r>
          </a:p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8173F-CE14-BEF2-3D6B-683C785957CA}"/>
              </a:ext>
            </a:extLst>
          </p:cNvPr>
          <p:cNvSpPr txBox="1"/>
          <p:nvPr/>
        </p:nvSpPr>
        <p:spPr>
          <a:xfrm>
            <a:off x="4576956" y="5384065"/>
            <a:ext cx="2700000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Carriers compared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5E4FE8-23EA-C04A-D751-2785F0551FA4}"/>
              </a:ext>
            </a:extLst>
          </p:cNvPr>
          <p:cNvSpPr txBox="1"/>
          <p:nvPr/>
        </p:nvSpPr>
        <p:spPr>
          <a:xfrm>
            <a:off x="8657760" y="5430233"/>
            <a:ext cx="2700000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Destination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11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4214D-230A-0950-936A-68A939F39EFC}"/>
              </a:ext>
            </a:extLst>
          </p:cNvPr>
          <p:cNvSpPr txBox="1"/>
          <p:nvPr/>
        </p:nvSpPr>
        <p:spPr>
          <a:xfrm>
            <a:off x="-68827" y="0"/>
            <a:ext cx="12031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Data Challenge</a:t>
            </a:r>
          </a:p>
          <a:p>
            <a:r>
              <a:rPr lang="en-IN" sz="2400" b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Raw shipment data arrived with quality issues typical of real operational systems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BA9908-ABFB-CDB9-ADA0-402B37258EF7}"/>
              </a:ext>
            </a:extLst>
          </p:cNvPr>
          <p:cNvSpPr/>
          <p:nvPr/>
        </p:nvSpPr>
        <p:spPr>
          <a:xfrm>
            <a:off x="117986" y="1526797"/>
            <a:ext cx="720000" cy="72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F5BB09-5E3E-0350-0527-8EE14936B5EA}"/>
              </a:ext>
            </a:extLst>
          </p:cNvPr>
          <p:cNvCxnSpPr/>
          <p:nvPr/>
        </p:nvCxnSpPr>
        <p:spPr>
          <a:xfrm flipV="1">
            <a:off x="0" y="2340077"/>
            <a:ext cx="12192000" cy="688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3877E77-EFA9-F14C-95FD-BFECE5629329}"/>
              </a:ext>
            </a:extLst>
          </p:cNvPr>
          <p:cNvSpPr/>
          <p:nvPr/>
        </p:nvSpPr>
        <p:spPr>
          <a:xfrm>
            <a:off x="89737" y="2595463"/>
            <a:ext cx="720000" cy="72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2F6026-0BBC-5D77-9EA8-A801BAFE06C7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330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CB38EA-0D37-1F7C-67E0-725555B58B3A}"/>
              </a:ext>
            </a:extLst>
          </p:cNvPr>
          <p:cNvCxnSpPr/>
          <p:nvPr/>
        </p:nvCxnSpPr>
        <p:spPr>
          <a:xfrm>
            <a:off x="0" y="4483510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718414-0759-53B9-D242-32959139C487}"/>
              </a:ext>
            </a:extLst>
          </p:cNvPr>
          <p:cNvCxnSpPr>
            <a:cxnSpLocks/>
          </p:cNvCxnSpPr>
          <p:nvPr/>
        </p:nvCxnSpPr>
        <p:spPr>
          <a:xfrm>
            <a:off x="0" y="5594555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BDA9EBB-989C-0533-C0DA-5AACE10F7E2D}"/>
              </a:ext>
            </a:extLst>
          </p:cNvPr>
          <p:cNvSpPr/>
          <p:nvPr/>
        </p:nvSpPr>
        <p:spPr>
          <a:xfrm>
            <a:off x="117986" y="3546744"/>
            <a:ext cx="720000" cy="72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396E927-4C2F-BA33-F309-E3D769E2EA05}"/>
              </a:ext>
            </a:extLst>
          </p:cNvPr>
          <p:cNvSpPr/>
          <p:nvPr/>
        </p:nvSpPr>
        <p:spPr>
          <a:xfrm>
            <a:off x="117986" y="4595556"/>
            <a:ext cx="720000" cy="72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B4351B-43E8-5B9A-3049-88153B8F9B9F}"/>
              </a:ext>
            </a:extLst>
          </p:cNvPr>
          <p:cNvSpPr/>
          <p:nvPr/>
        </p:nvSpPr>
        <p:spPr>
          <a:xfrm>
            <a:off x="117986" y="5662491"/>
            <a:ext cx="720000" cy="7200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Graphic 21" descr="Warning with solid fill">
            <a:extLst>
              <a:ext uri="{FF2B5EF4-FFF2-40B4-BE49-F238E27FC236}">
                <a16:creationId xmlns:a16="http://schemas.microsoft.com/office/drawing/2014/main" id="{A0A4D724-96AD-52CD-FB7B-5AD6B2BED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401" y="1689309"/>
            <a:ext cx="396000" cy="396000"/>
          </a:xfrm>
          <a:prstGeom prst="rect">
            <a:avLst/>
          </a:prstGeom>
        </p:spPr>
      </p:pic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F4ABE5ED-7218-02E8-9C69-FCCDC4984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525" y="2720448"/>
            <a:ext cx="396000" cy="396000"/>
          </a:xfrm>
          <a:prstGeom prst="rect">
            <a:avLst/>
          </a:prstGeom>
        </p:spPr>
      </p:pic>
      <p:pic>
        <p:nvPicPr>
          <p:cNvPr id="26" name="Graphic 25" descr="Warning with solid fill">
            <a:extLst>
              <a:ext uri="{FF2B5EF4-FFF2-40B4-BE49-F238E27FC236}">
                <a16:creationId xmlns:a16="http://schemas.microsoft.com/office/drawing/2014/main" id="{225EE127-D9AA-B760-4CFB-716DD1F57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401" y="3672985"/>
            <a:ext cx="396000" cy="396000"/>
          </a:xfrm>
          <a:prstGeom prst="rect">
            <a:avLst/>
          </a:prstGeom>
        </p:spPr>
      </p:pic>
      <p:pic>
        <p:nvPicPr>
          <p:cNvPr id="28" name="Graphic 27" descr="Warning with solid fill">
            <a:extLst>
              <a:ext uri="{FF2B5EF4-FFF2-40B4-BE49-F238E27FC236}">
                <a16:creationId xmlns:a16="http://schemas.microsoft.com/office/drawing/2014/main" id="{C18DE279-EAFD-F770-62B7-434922DFC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978" y="4713447"/>
            <a:ext cx="396000" cy="396000"/>
          </a:xfrm>
          <a:prstGeom prst="rect">
            <a:avLst/>
          </a:prstGeom>
        </p:spPr>
      </p:pic>
      <p:pic>
        <p:nvPicPr>
          <p:cNvPr id="30" name="Graphic 29" descr="Warning with solid fill">
            <a:extLst>
              <a:ext uri="{FF2B5EF4-FFF2-40B4-BE49-F238E27FC236}">
                <a16:creationId xmlns:a16="http://schemas.microsoft.com/office/drawing/2014/main" id="{1DCD26F7-6C94-FB39-938B-31FE67EF9F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978" y="5824491"/>
            <a:ext cx="396000" cy="396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A33E2CD-BB13-A89A-5B67-63D49D8A1F4B}"/>
              </a:ext>
            </a:extLst>
          </p:cNvPr>
          <p:cNvSpPr txBox="1"/>
          <p:nvPr/>
        </p:nvSpPr>
        <p:spPr>
          <a:xfrm>
            <a:off x="1197880" y="2720448"/>
            <a:ext cx="2607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Mixed data formats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B93D3F-E433-9F63-64A9-BC1A20E4937F}"/>
              </a:ext>
            </a:extLst>
          </p:cNvPr>
          <p:cNvSpPr txBox="1"/>
          <p:nvPr/>
        </p:nvSpPr>
        <p:spPr>
          <a:xfrm>
            <a:off x="1197879" y="1677696"/>
            <a:ext cx="409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Inconsistent text casting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D73645-83AB-9C44-15CD-B202DC9D0544}"/>
              </a:ext>
            </a:extLst>
          </p:cNvPr>
          <p:cNvSpPr txBox="1"/>
          <p:nvPr/>
        </p:nvSpPr>
        <p:spPr>
          <a:xfrm>
            <a:off x="1286370" y="3831492"/>
            <a:ext cx="238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Duplicates records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BCB20C-E1BE-C70C-D27B-0A1FBD4FD86A}"/>
              </a:ext>
            </a:extLst>
          </p:cNvPr>
          <p:cNvSpPr txBox="1"/>
          <p:nvPr/>
        </p:nvSpPr>
        <p:spPr>
          <a:xfrm>
            <a:off x="1197879" y="4840765"/>
            <a:ext cx="333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Missing and placeholder values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54279A-156D-4EA6-4C08-7DB294E0C145}"/>
              </a:ext>
            </a:extLst>
          </p:cNvPr>
          <p:cNvSpPr txBox="1"/>
          <p:nvPr/>
        </p:nvSpPr>
        <p:spPr>
          <a:xfrm>
            <a:off x="1197879" y="5824491"/>
            <a:ext cx="287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Inconsistent categories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0AA0B2-A9C9-E119-0674-68A326F65009}"/>
              </a:ext>
            </a:extLst>
          </p:cNvPr>
          <p:cNvSpPr txBox="1"/>
          <p:nvPr/>
        </p:nvSpPr>
        <p:spPr>
          <a:xfrm>
            <a:off x="6548284" y="1595623"/>
            <a:ext cx="50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"</a:t>
            </a:r>
            <a:r>
              <a:rPr lang="en-IN" b="1" dirty="0" err="1"/>
              <a:t>chennai</a:t>
            </a:r>
            <a:r>
              <a:rPr lang="en-IN" b="1" dirty="0"/>
              <a:t>" vs "Chennai", "</a:t>
            </a:r>
            <a:r>
              <a:rPr lang="en-IN" b="1" dirty="0" err="1"/>
              <a:t>dtdc</a:t>
            </a:r>
            <a:r>
              <a:rPr lang="en-IN" b="1" dirty="0"/>
              <a:t>" vs "DTDC" vs "DELHIVERY" across carrier &amp; city fields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A16931-58BD-87FC-DB85-98361DDD1BD5}"/>
              </a:ext>
            </a:extLst>
          </p:cNvPr>
          <p:cNvSpPr txBox="1"/>
          <p:nvPr/>
        </p:nvSpPr>
        <p:spPr>
          <a:xfrm>
            <a:off x="6646606" y="2621918"/>
            <a:ext cx="50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Dates stored as "29/12/2025" alongside ISO timestamps in the same column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7E9114-68B1-6223-EF46-98DCF006C929}"/>
              </a:ext>
            </a:extLst>
          </p:cNvPr>
          <p:cNvSpPr txBox="1"/>
          <p:nvPr/>
        </p:nvSpPr>
        <p:spPr>
          <a:xfrm>
            <a:off x="6548284" y="3673207"/>
            <a:ext cx="50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 fully duplicated shipment rows inflating totals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67BBCD-8669-F016-702E-B2EE5E272386}"/>
              </a:ext>
            </a:extLst>
          </p:cNvPr>
          <p:cNvSpPr txBox="1"/>
          <p:nvPr/>
        </p:nvSpPr>
        <p:spPr>
          <a:xfrm>
            <a:off x="6705599" y="4700275"/>
            <a:ext cx="50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"N/A", "-" and blanks standing in for numeric fields like weight and order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B60704-2E40-E541-A08B-93ADA798B920}"/>
              </a:ext>
            </a:extLst>
          </p:cNvPr>
          <p:cNvSpPr txBox="1"/>
          <p:nvPr/>
        </p:nvSpPr>
        <p:spPr>
          <a:xfrm>
            <a:off x="6705599" y="5731064"/>
            <a:ext cx="50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Zone labels like "</a:t>
            </a:r>
            <a:r>
              <a:rPr lang="en-IN" b="1" dirty="0" err="1"/>
              <a:t>Wset</a:t>
            </a:r>
            <a:r>
              <a:rPr lang="en-IN" b="1" dirty="0"/>
              <a:t>", "South India" and "SOUTH" all referring to the same zone</a:t>
            </a:r>
          </a:p>
        </p:txBody>
      </p:sp>
    </p:spTree>
    <p:extLst>
      <p:ext uri="{BB962C8B-B14F-4D97-AF65-F5344CB8AC3E}">
        <p14:creationId xmlns:p14="http://schemas.microsoft.com/office/powerpoint/2010/main" val="338721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2BEE43-A5B3-D838-2314-7B09D53B5923}"/>
              </a:ext>
            </a:extLst>
          </p:cNvPr>
          <p:cNvSpPr txBox="1"/>
          <p:nvPr/>
        </p:nvSpPr>
        <p:spPr>
          <a:xfrm>
            <a:off x="108156" y="0"/>
            <a:ext cx="118282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Process</a:t>
            </a:r>
          </a:p>
          <a:p>
            <a:r>
              <a:rPr lang="en-IN" sz="2400" b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Standardized the dataset and engineered two new performance fields</a:t>
            </a:r>
          </a:p>
          <a:p>
            <a:endParaRPr lang="en-IN" sz="28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C7BB6E-5ACB-2809-7068-968DDB5188B4}"/>
              </a:ext>
            </a:extLst>
          </p:cNvPr>
          <p:cNvSpPr/>
          <p:nvPr/>
        </p:nvSpPr>
        <p:spPr>
          <a:xfrm>
            <a:off x="58163" y="1578076"/>
            <a:ext cx="34200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2800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800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418B0-309A-9BBB-A4C4-2074EBD2B5B5}"/>
              </a:ext>
            </a:extLst>
          </p:cNvPr>
          <p:cNvSpPr/>
          <p:nvPr/>
        </p:nvSpPr>
        <p:spPr>
          <a:xfrm>
            <a:off x="4312259" y="1578076"/>
            <a:ext cx="34200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6E2A5F-CFD4-D584-1AF0-A73BA26046CE}"/>
              </a:ext>
            </a:extLst>
          </p:cNvPr>
          <p:cNvSpPr/>
          <p:nvPr/>
        </p:nvSpPr>
        <p:spPr>
          <a:xfrm>
            <a:off x="8604039" y="1578076"/>
            <a:ext cx="34200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168C2-FA32-A37B-98BA-1455BECD1558}"/>
              </a:ext>
            </a:extLst>
          </p:cNvPr>
          <p:cNvSpPr txBox="1"/>
          <p:nvPr/>
        </p:nvSpPr>
        <p:spPr>
          <a:xfrm>
            <a:off x="255640" y="2408903"/>
            <a:ext cx="1440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30</a:t>
            </a:r>
          </a:p>
          <a:p>
            <a:r>
              <a:rPr lang="en-IN" sz="1600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A0E28-0E7F-46F9-6221-D91143513BC2}"/>
              </a:ext>
            </a:extLst>
          </p:cNvPr>
          <p:cNvSpPr txBox="1"/>
          <p:nvPr/>
        </p:nvSpPr>
        <p:spPr>
          <a:xfrm>
            <a:off x="1847240" y="2408902"/>
            <a:ext cx="1646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5DB3C-905F-5ACA-82B0-DB55D4586578}"/>
              </a:ext>
            </a:extLst>
          </p:cNvPr>
          <p:cNvSpPr txBox="1"/>
          <p:nvPr/>
        </p:nvSpPr>
        <p:spPr>
          <a:xfrm>
            <a:off x="5270090" y="1553496"/>
            <a:ext cx="1651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Rows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D3F08-E1D2-2B8D-F25D-098373133471}"/>
              </a:ext>
            </a:extLst>
          </p:cNvPr>
          <p:cNvSpPr txBox="1"/>
          <p:nvPr/>
        </p:nvSpPr>
        <p:spPr>
          <a:xfrm>
            <a:off x="4350775" y="2394154"/>
            <a:ext cx="143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1630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CD1610-5420-91EB-40F7-A0CC51356D5F}"/>
              </a:ext>
            </a:extLst>
          </p:cNvPr>
          <p:cNvSpPr txBox="1"/>
          <p:nvPr/>
        </p:nvSpPr>
        <p:spPr>
          <a:xfrm>
            <a:off x="6199239" y="2408903"/>
            <a:ext cx="160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1562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5F43DD-318E-3E52-9AE2-6C3CFDF022D8}"/>
              </a:ext>
            </a:extLst>
          </p:cNvPr>
          <p:cNvSpPr txBox="1"/>
          <p:nvPr/>
        </p:nvSpPr>
        <p:spPr>
          <a:xfrm>
            <a:off x="697687" y="1553047"/>
            <a:ext cx="23011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Duplicates Rows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E1D41-6C54-A510-3438-F001E4C64AE7}"/>
              </a:ext>
            </a:extLst>
          </p:cNvPr>
          <p:cNvSpPr txBox="1"/>
          <p:nvPr/>
        </p:nvSpPr>
        <p:spPr>
          <a:xfrm>
            <a:off x="9601199" y="1504542"/>
            <a:ext cx="1907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356BE-DC5D-403A-1BD6-57D8BA023DE8}"/>
              </a:ext>
            </a:extLst>
          </p:cNvPr>
          <p:cNvSpPr txBox="1"/>
          <p:nvPr/>
        </p:nvSpPr>
        <p:spPr>
          <a:xfrm>
            <a:off x="8785123" y="2321259"/>
            <a:ext cx="1528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0716A-D85D-C315-1C7B-B2AC3C220494}"/>
              </a:ext>
            </a:extLst>
          </p:cNvPr>
          <p:cNvSpPr txBox="1"/>
          <p:nvPr/>
        </p:nvSpPr>
        <p:spPr>
          <a:xfrm>
            <a:off x="10459065" y="2394153"/>
            <a:ext cx="113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22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00CA7-AEFD-70A7-7501-851292ACFF0E}"/>
              </a:ext>
            </a:extLst>
          </p:cNvPr>
          <p:cNvSpPr txBox="1"/>
          <p:nvPr/>
        </p:nvSpPr>
        <p:spPr>
          <a:xfrm>
            <a:off x="255640" y="3500284"/>
            <a:ext cx="58403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Steps Applied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Removed exact duplicate shipment records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Standardized carrier, city, zone and status text to consistent casing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Parsed mixed date formats into a single consistent format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Replaced placeholder text ("N/A", "-") with proper nulls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Engineered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Transit_Days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Delivery_Delay_Days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from the date fields</a:t>
            </a:r>
          </a:p>
          <a:p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5CD8E0-A5A4-155C-9602-9FEC8D6FD689}"/>
              </a:ext>
            </a:extLst>
          </p:cNvPr>
          <p:cNvSpPr/>
          <p:nvPr/>
        </p:nvSpPr>
        <p:spPr>
          <a:xfrm>
            <a:off x="6199239" y="3429000"/>
            <a:ext cx="5840360" cy="3241383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The two new engineered columns (</a:t>
            </a:r>
            <a:r>
              <a:rPr lang="en-IN" b="1" dirty="0" err="1">
                <a:solidFill>
                  <a:schemeClr val="bg1">
                    <a:lumMod val="95000"/>
                  </a:schemeClr>
                </a:solidFill>
              </a:rPr>
              <a:t>Transit_Days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bg1">
                    <a:lumMod val="95000"/>
                  </a:schemeClr>
                </a:solidFill>
              </a:rPr>
              <a:t>Delivery_Delay_Days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) can only be calculated where the underlying date fields exist, so cleaning added useful analytical fields even though it raised the raw missing-value count.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7ECDC-C5BF-F4CB-8B6F-47365B5774A1}"/>
              </a:ext>
            </a:extLst>
          </p:cNvPr>
          <p:cNvSpPr txBox="1"/>
          <p:nvPr/>
        </p:nvSpPr>
        <p:spPr>
          <a:xfrm>
            <a:off x="6961239" y="4262215"/>
            <a:ext cx="4633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missing values still appear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534424-CE93-833E-5799-62D3B57616DD}"/>
              </a:ext>
            </a:extLst>
          </p:cNvPr>
          <p:cNvSpPr/>
          <p:nvPr/>
        </p:nvSpPr>
        <p:spPr>
          <a:xfrm>
            <a:off x="6251400" y="3571842"/>
            <a:ext cx="870759" cy="77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6674819E-9E03-621F-8227-646A96896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89147" y="3738030"/>
            <a:ext cx="438907" cy="4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5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DEB17-6D00-8604-1B97-3150CDF1DC9A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Interactive Power  BI Dashboard</a:t>
            </a:r>
          </a:p>
          <a:p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Build on the cleaned dataset to track delivery  performance in real time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2DECA3-D3BB-CB3C-6A04-B02177A9D941}"/>
              </a:ext>
            </a:extLst>
          </p:cNvPr>
          <p:cNvSpPr/>
          <p:nvPr/>
        </p:nvSpPr>
        <p:spPr>
          <a:xfrm>
            <a:off x="88491" y="1366528"/>
            <a:ext cx="2300748" cy="146732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1562</a:t>
            </a:r>
          </a:p>
          <a:p>
            <a:pPr algn="ctr"/>
            <a:endParaRPr lang="en-IN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Shipment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B747BB-E370-5D22-AE80-D54F89DE6F2D}"/>
              </a:ext>
            </a:extLst>
          </p:cNvPr>
          <p:cNvSpPr/>
          <p:nvPr/>
        </p:nvSpPr>
        <p:spPr>
          <a:xfrm>
            <a:off x="2647509" y="1384024"/>
            <a:ext cx="2700000" cy="144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41%</a:t>
            </a:r>
          </a:p>
          <a:p>
            <a:pPr algn="ctr"/>
            <a:endParaRPr lang="en-IN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Delivered Rate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ED3EBD-D7DE-5868-BF33-593DFFD44F5C}"/>
              </a:ext>
            </a:extLst>
          </p:cNvPr>
          <p:cNvSpPr/>
          <p:nvPr/>
        </p:nvSpPr>
        <p:spPr>
          <a:xfrm>
            <a:off x="5959036" y="1393855"/>
            <a:ext cx="2700000" cy="144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13.8%</a:t>
            </a:r>
          </a:p>
          <a:p>
            <a:pPr algn="ctr"/>
            <a:endParaRPr lang="en-IN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Delayed Rate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8509AE-23BD-D0B0-90EE-8F4C521129C8}"/>
              </a:ext>
            </a:extLst>
          </p:cNvPr>
          <p:cNvSpPr/>
          <p:nvPr/>
        </p:nvSpPr>
        <p:spPr>
          <a:xfrm>
            <a:off x="9379974" y="1384024"/>
            <a:ext cx="2700000" cy="144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896 km</a:t>
            </a:r>
          </a:p>
          <a:p>
            <a:pPr algn="ctr"/>
            <a:endParaRPr lang="en-IN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Avg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Distance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CDF9A2-75D8-513C-BB5F-E0A9F84B893F}"/>
              </a:ext>
            </a:extLst>
          </p:cNvPr>
          <p:cNvSpPr/>
          <p:nvPr/>
        </p:nvSpPr>
        <p:spPr>
          <a:xfrm>
            <a:off x="88491" y="1415844"/>
            <a:ext cx="612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ABFB2D-244A-2305-A4FD-2B97DA80E8E0}"/>
              </a:ext>
            </a:extLst>
          </p:cNvPr>
          <p:cNvSpPr/>
          <p:nvPr/>
        </p:nvSpPr>
        <p:spPr>
          <a:xfrm>
            <a:off x="2757329" y="1384024"/>
            <a:ext cx="612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FE133F-31D8-6C39-E93E-EA1DDAA1E67A}"/>
              </a:ext>
            </a:extLst>
          </p:cNvPr>
          <p:cNvSpPr/>
          <p:nvPr/>
        </p:nvSpPr>
        <p:spPr>
          <a:xfrm>
            <a:off x="5959036" y="1461424"/>
            <a:ext cx="612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8E9441-E5E8-B5D3-B0BA-275E634726CC}"/>
              </a:ext>
            </a:extLst>
          </p:cNvPr>
          <p:cNvSpPr/>
          <p:nvPr/>
        </p:nvSpPr>
        <p:spPr>
          <a:xfrm>
            <a:off x="9507793" y="1489586"/>
            <a:ext cx="612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Graphic 12" descr="Shopping cart with solid fill">
            <a:extLst>
              <a:ext uri="{FF2B5EF4-FFF2-40B4-BE49-F238E27FC236}">
                <a16:creationId xmlns:a16="http://schemas.microsoft.com/office/drawing/2014/main" id="{D1ECED9D-9D6F-31A0-CA8B-886B7AF46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11" y="1489586"/>
            <a:ext cx="489154" cy="489154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5E39FD54-23AA-38C7-2B64-8DA86EEA2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9529" y="1592976"/>
            <a:ext cx="317090" cy="317090"/>
          </a:xfrm>
          <a:prstGeom prst="rect">
            <a:avLst/>
          </a:prstGeom>
        </p:spPr>
      </p:pic>
      <p:pic>
        <p:nvPicPr>
          <p:cNvPr id="17" name="Graphic 16" descr="Clock with solid fill">
            <a:extLst>
              <a:ext uri="{FF2B5EF4-FFF2-40B4-BE49-F238E27FC236}">
                <a16:creationId xmlns:a16="http://schemas.microsoft.com/office/drawing/2014/main" id="{C85C9DA9-B4AD-B9B7-0769-3475F5350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6808" y="1634610"/>
            <a:ext cx="455591" cy="415414"/>
          </a:xfrm>
          <a:prstGeom prst="rect">
            <a:avLst/>
          </a:prstGeom>
        </p:spPr>
      </p:pic>
      <p:pic>
        <p:nvPicPr>
          <p:cNvPr id="19" name="Graphic 18" descr="Truck with solid fill">
            <a:extLst>
              <a:ext uri="{FF2B5EF4-FFF2-40B4-BE49-F238E27FC236}">
                <a16:creationId xmlns:a16="http://schemas.microsoft.com/office/drawing/2014/main" id="{0CFFA150-96E9-ADA2-ED64-63E9F0D6C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5193" y="1592824"/>
            <a:ext cx="457200" cy="457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0AAFD96-F96C-3612-E001-3D1F278EE1CC}"/>
              </a:ext>
            </a:extLst>
          </p:cNvPr>
          <p:cNvSpPr txBox="1"/>
          <p:nvPr/>
        </p:nvSpPr>
        <p:spPr>
          <a:xfrm>
            <a:off x="133911" y="3119424"/>
            <a:ext cx="5213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Pages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9F14B4-5876-108A-873E-6111CD0DAD1F}"/>
              </a:ext>
            </a:extLst>
          </p:cNvPr>
          <p:cNvSpPr/>
          <p:nvPr/>
        </p:nvSpPr>
        <p:spPr>
          <a:xfrm>
            <a:off x="6795792" y="3212047"/>
            <a:ext cx="4823768" cy="3424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File</a:t>
            </a:r>
          </a:p>
          <a:p>
            <a:pPr algn="ctr"/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IN" b="1" dirty="0" err="1"/>
              <a:t>LOGISTICS_DASHBOARD.pbix</a:t>
            </a:r>
            <a:endParaRPr lang="en-IN" b="1" dirty="0"/>
          </a:p>
          <a:p>
            <a:pPr algn="ctr"/>
            <a:endParaRPr lang="en-IN" dirty="0"/>
          </a:p>
          <a:p>
            <a:pPr algn="ctr"/>
            <a:r>
              <a:rPr lang="en-IN" sz="1600" dirty="0"/>
              <a:t>Built with Power Query + DAX measures on the cleaned dataset.</a:t>
            </a:r>
            <a:endParaRPr lang="en-IN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DF6D1C-35E6-F7C7-1B69-3870BB5ADFEB}"/>
              </a:ext>
            </a:extLst>
          </p:cNvPr>
          <p:cNvSpPr txBox="1"/>
          <p:nvPr/>
        </p:nvSpPr>
        <p:spPr>
          <a:xfrm>
            <a:off x="133911" y="3876489"/>
            <a:ext cx="5962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Executive Overview</a:t>
            </a:r>
          </a:p>
          <a:p>
            <a:r>
              <a:rPr lang="en-IN" dirty="0"/>
              <a:t>Shipment volume, status mix and cost KPIs at a glance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00B62B-39DF-28E0-E1AD-A1A9A7B1ACCB}"/>
              </a:ext>
            </a:extLst>
          </p:cNvPr>
          <p:cNvSpPr txBox="1"/>
          <p:nvPr/>
        </p:nvSpPr>
        <p:spPr>
          <a:xfrm>
            <a:off x="133911" y="4910850"/>
            <a:ext cx="615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Carrier Performance</a:t>
            </a:r>
          </a:p>
          <a:p>
            <a:r>
              <a:rPr lang="en-IN" dirty="0"/>
              <a:t>On-time vs delayed rate by carrier, drill-down by vehicle type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931541-0C88-3268-8600-B6DC7E19FA47}"/>
              </a:ext>
            </a:extLst>
          </p:cNvPr>
          <p:cNvSpPr txBox="1"/>
          <p:nvPr/>
        </p:nvSpPr>
        <p:spPr>
          <a:xfrm>
            <a:off x="142539" y="5809168"/>
            <a:ext cx="5633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Zone &amp; Route Analysis</a:t>
            </a:r>
          </a:p>
          <a:p>
            <a:r>
              <a:rPr lang="en-IN" dirty="0"/>
              <a:t>Delay patterns by destination zone, warehouse and distance</a:t>
            </a:r>
          </a:p>
        </p:txBody>
      </p:sp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783E0598-54C1-6D7C-8850-3BBFB7442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0989" y="32120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2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81442-1907-3FDD-1B62-76B1C191D597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 1 – Delivery Outcomes</a:t>
            </a:r>
          </a:p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4 in 10  shipments complete on records as delivered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1CDC620-0245-B607-5BBE-6FC852F1B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606736"/>
              </p:ext>
            </p:extLst>
          </p:nvPr>
        </p:nvGraphicFramePr>
        <p:xfrm>
          <a:off x="71120" y="1087119"/>
          <a:ext cx="5750560" cy="5051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4FC421-27CD-4AB5-AE29-2ECC621C0876}"/>
              </a:ext>
            </a:extLst>
          </p:cNvPr>
          <p:cNvSpPr txBox="1"/>
          <p:nvPr/>
        </p:nvSpPr>
        <p:spPr>
          <a:xfrm>
            <a:off x="5913120" y="1292105"/>
            <a:ext cx="6278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41%   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Delivered on record — the completed baseline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5778B-B7EA-19A8-F759-CFA3962C38C5}"/>
              </a:ext>
            </a:extLst>
          </p:cNvPr>
          <p:cNvSpPr txBox="1"/>
          <p:nvPr/>
        </p:nvSpPr>
        <p:spPr>
          <a:xfrm>
            <a:off x="5913120" y="1910080"/>
            <a:ext cx="596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13.8%   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Delayed past the promised 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80A63-3517-CD2C-4E33-322FA60530ED}"/>
              </a:ext>
            </a:extLst>
          </p:cNvPr>
          <p:cNvSpPr txBox="1"/>
          <p:nvPr/>
        </p:nvSpPr>
        <p:spPr>
          <a:xfrm>
            <a:off x="5913120" y="2548374"/>
            <a:ext cx="6106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15.8%</a:t>
            </a:r>
            <a:r>
              <a:rPr lang="en-IN" dirty="0"/>
              <a:t> 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Cancelled — lost revenue and wasted logistics effort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BF4118-C90A-6E53-19EB-3100DE2699CC}"/>
              </a:ext>
            </a:extLst>
          </p:cNvPr>
          <p:cNvSpPr/>
          <p:nvPr/>
        </p:nvSpPr>
        <p:spPr>
          <a:xfrm>
            <a:off x="5913120" y="3718560"/>
            <a:ext cx="5963920" cy="165608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i="1" dirty="0"/>
              <a:t>Takeaway: cancellations (15.8%) are nearly as large as delays (13.8%) — both deserve equal attention in process improvement, not just on-time delivery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701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5765D-2D40-680A-C1A7-A96D8F8649C6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 2 – Carrier Performance</a:t>
            </a:r>
          </a:p>
          <a:p>
            <a:r>
              <a:rPr lang="en-IN" sz="2400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Delay rate varies by nearly 5 points between the best and worst carrier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637E4AC-BB6D-32FB-F613-7625CAE05E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703375"/>
              </p:ext>
            </p:extLst>
          </p:nvPr>
        </p:nvGraphicFramePr>
        <p:xfrm>
          <a:off x="101600" y="1229360"/>
          <a:ext cx="8382000" cy="4898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244E84-36BE-130B-DB93-FDA5BDB59046}"/>
              </a:ext>
            </a:extLst>
          </p:cNvPr>
          <p:cNvSpPr/>
          <p:nvPr/>
        </p:nvSpPr>
        <p:spPr>
          <a:xfrm>
            <a:off x="8646160" y="1315720"/>
            <a:ext cx="3108960" cy="211328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Performer</a:t>
            </a:r>
          </a:p>
          <a:p>
            <a:pPr algn="ctr"/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XpressBees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leads with the lowest delay rate at 11.7%, closely followed by Ecom Express and DTDC.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BB25F49F-4E70-07FC-7B34-3C6DA8483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0" y="1397000"/>
            <a:ext cx="314960" cy="34544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D4CE57-6A28-88C9-297E-33F618D23643}"/>
              </a:ext>
            </a:extLst>
          </p:cNvPr>
          <p:cNvSpPr/>
          <p:nvPr/>
        </p:nvSpPr>
        <p:spPr>
          <a:xfrm>
            <a:off x="8595360" y="3729058"/>
            <a:ext cx="3281680" cy="23991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Need Attention</a:t>
            </a:r>
          </a:p>
          <a:p>
            <a:pPr algn="ctr"/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BlueDart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Delhivery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run 3-5 points above the best performers — worth a service-level review with these partners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14" name="Graphic 13" descr="Warning with solid fill">
            <a:extLst>
              <a:ext uri="{FF2B5EF4-FFF2-40B4-BE49-F238E27FC236}">
                <a16:creationId xmlns:a16="http://schemas.microsoft.com/office/drawing/2014/main" id="{1BA0C082-5D03-89CE-C5F2-33CADB472D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0" y="4018955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5E885-7CDF-20A4-7643-87930926C5EA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 3 – Zone-Wise Delay Patterns</a:t>
            </a:r>
          </a:p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Southern shipments run fastest; eastern and northern zones lag furthest behind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707E151-49A0-4E5B-EE06-5ABE8BCB4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2182667"/>
              </p:ext>
            </p:extLst>
          </p:nvPr>
        </p:nvGraphicFramePr>
        <p:xfrm>
          <a:off x="335280" y="1259840"/>
          <a:ext cx="7335520" cy="4725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69A516B-3034-1D08-3240-3494FF32EEAB}"/>
              </a:ext>
            </a:extLst>
          </p:cNvPr>
          <p:cNvSpPr txBox="1"/>
          <p:nvPr/>
        </p:nvSpPr>
        <p:spPr>
          <a:xfrm>
            <a:off x="7477760" y="4724737"/>
            <a:ext cx="3627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Transit time correlates with delay (r = 0.60) — longer transit windows carry more risk of slipping the promised 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0C164-486E-839C-D002-514ED07E92D5}"/>
              </a:ext>
            </a:extLst>
          </p:cNvPr>
          <p:cNvSpPr txBox="1"/>
          <p:nvPr/>
        </p:nvSpPr>
        <p:spPr>
          <a:xfrm>
            <a:off x="7583762" y="3429000"/>
            <a:ext cx="2816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East and North average roughly 14 more delay-days than South, despite lower volumes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8CADB-F26B-9FF1-A3A9-E54846BFAC97}"/>
              </a:ext>
            </a:extLst>
          </p:cNvPr>
          <p:cNvSpPr txBox="1"/>
          <p:nvPr/>
        </p:nvSpPr>
        <p:spPr>
          <a:xfrm>
            <a:off x="7547955" y="2173414"/>
            <a:ext cx="3373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South handles the highest shipment volume (61% of all orders) yet posts the lowest average delay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6F3502-483B-931E-FC00-7F1D92D94F74}"/>
              </a:ext>
            </a:extLst>
          </p:cNvPr>
          <p:cNvSpPr/>
          <p:nvPr/>
        </p:nvSpPr>
        <p:spPr>
          <a:xfrm>
            <a:off x="7477760" y="1289890"/>
            <a:ext cx="3068320" cy="5592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What’s driving this?</a:t>
            </a:r>
          </a:p>
        </p:txBody>
      </p:sp>
      <p:pic>
        <p:nvPicPr>
          <p:cNvPr id="23" name="Graphic 22" descr="Marker with solid fill">
            <a:extLst>
              <a:ext uri="{FF2B5EF4-FFF2-40B4-BE49-F238E27FC236}">
                <a16:creationId xmlns:a16="http://schemas.microsoft.com/office/drawing/2014/main" id="{5CADDB5B-714A-CAB2-7FE8-A9AE1C52C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762" y="1327866"/>
            <a:ext cx="422318" cy="42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3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066D5-8DCC-057B-D2D0-799354283959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Turning the analysis into concrete next steps for logistics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3A88B0-BA31-9FB0-023D-838E0776C34D}"/>
              </a:ext>
            </a:extLst>
          </p:cNvPr>
          <p:cNvSpPr/>
          <p:nvPr/>
        </p:nvSpPr>
        <p:spPr>
          <a:xfrm>
            <a:off x="345440" y="1320800"/>
            <a:ext cx="4860000" cy="205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Rebalance carrier allocation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Shift more East/North zone volume toward </a:t>
            </a:r>
            <a:r>
              <a:rPr lang="en-IN" b="1" dirty="0" err="1"/>
              <a:t>XpressBees</a:t>
            </a:r>
            <a:r>
              <a:rPr lang="en-IN" b="1" dirty="0"/>
              <a:t>, Ecom Express and DTDC where delay rates are lowest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60F174-152C-805B-93BD-972D75C29BF9}"/>
              </a:ext>
            </a:extLst>
          </p:cNvPr>
          <p:cNvSpPr/>
          <p:nvPr/>
        </p:nvSpPr>
        <p:spPr>
          <a:xfrm>
            <a:off x="6512560" y="1320800"/>
            <a:ext cx="4932000" cy="205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Audit long-transit routes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Review routing and hand-off points for East and North zones, where transit time and delay are most correlated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85EC05-A265-8CC9-DB50-1D8D51EEF36F}"/>
              </a:ext>
            </a:extLst>
          </p:cNvPr>
          <p:cNvSpPr/>
          <p:nvPr/>
        </p:nvSpPr>
        <p:spPr>
          <a:xfrm>
            <a:off x="345440" y="4064000"/>
            <a:ext cx="4932000" cy="205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Investigate cancellations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Cancellations (15.8%) are nearly as costly as delays — dig into root causes by payment method and customer type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0EBEAD-A6E0-65FA-B9F3-E8ADD53FD00E}"/>
              </a:ext>
            </a:extLst>
          </p:cNvPr>
          <p:cNvSpPr/>
          <p:nvPr/>
        </p:nvSpPr>
        <p:spPr>
          <a:xfrm>
            <a:off x="6535420" y="3982720"/>
            <a:ext cx="4932000" cy="205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Fix data capture at source</a:t>
            </a:r>
          </a:p>
          <a:p>
            <a:pPr algn="ctr"/>
            <a:endParaRPr lang="en-IN" dirty="0"/>
          </a:p>
          <a:p>
            <a:pPr algn="ctr"/>
            <a:r>
              <a:rPr lang="en-IN" b="1" dirty="0"/>
              <a:t>Standardize dropdowns for carrier, city and zone fields at entry to prevent the inconsistencies found in raw 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56CDF5-354E-36CB-C5EE-05949C9AA1C5}"/>
              </a:ext>
            </a:extLst>
          </p:cNvPr>
          <p:cNvSpPr/>
          <p:nvPr/>
        </p:nvSpPr>
        <p:spPr>
          <a:xfrm>
            <a:off x="367619" y="1320800"/>
            <a:ext cx="720000" cy="756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C89325-2CC4-ED69-AC15-B3B2E4AE35C3}"/>
              </a:ext>
            </a:extLst>
          </p:cNvPr>
          <p:cNvSpPr/>
          <p:nvPr/>
        </p:nvSpPr>
        <p:spPr>
          <a:xfrm>
            <a:off x="6593840" y="1338800"/>
            <a:ext cx="720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D561E4-96DE-5C7B-4ED9-5FDF793B6168}"/>
              </a:ext>
            </a:extLst>
          </p:cNvPr>
          <p:cNvSpPr/>
          <p:nvPr/>
        </p:nvSpPr>
        <p:spPr>
          <a:xfrm>
            <a:off x="345440" y="4079240"/>
            <a:ext cx="720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4B0A4E-A339-F30F-22A5-5EF3A2BA94B9}"/>
              </a:ext>
            </a:extLst>
          </p:cNvPr>
          <p:cNvSpPr/>
          <p:nvPr/>
        </p:nvSpPr>
        <p:spPr>
          <a:xfrm>
            <a:off x="6593840" y="4008120"/>
            <a:ext cx="720000" cy="720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Graphic 11" descr="Truck with solid fill">
            <a:extLst>
              <a:ext uri="{FF2B5EF4-FFF2-40B4-BE49-F238E27FC236}">
                <a16:creationId xmlns:a16="http://schemas.microsoft.com/office/drawing/2014/main" id="{A4C350C2-477E-FC89-035C-5C88B47DD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868" y="1431298"/>
            <a:ext cx="492592" cy="492592"/>
          </a:xfrm>
          <a:prstGeom prst="rect">
            <a:avLst/>
          </a:prstGeom>
        </p:spPr>
      </p:pic>
      <p:pic>
        <p:nvPicPr>
          <p:cNvPr id="16" name="Graphic 15" descr="Playbook with solid fill">
            <a:extLst>
              <a:ext uri="{FF2B5EF4-FFF2-40B4-BE49-F238E27FC236}">
                <a16:creationId xmlns:a16="http://schemas.microsoft.com/office/drawing/2014/main" id="{96262DAE-7774-EC79-5DF9-4EBD758BF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2940" y="1390490"/>
            <a:ext cx="533400" cy="533400"/>
          </a:xfrm>
          <a:prstGeom prst="rect">
            <a:avLst/>
          </a:prstGeom>
        </p:spPr>
      </p:pic>
      <p:pic>
        <p:nvPicPr>
          <p:cNvPr id="18" name="Graphic 17" descr="Briefcase with solid fill">
            <a:extLst>
              <a:ext uri="{FF2B5EF4-FFF2-40B4-BE49-F238E27FC236}">
                <a16:creationId xmlns:a16="http://schemas.microsoft.com/office/drawing/2014/main" id="{DC06BE7E-4078-ED33-EBED-C80F230FB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20" y="4119880"/>
            <a:ext cx="574040" cy="574040"/>
          </a:xfrm>
          <a:prstGeom prst="rect">
            <a:avLst/>
          </a:prstGeom>
        </p:spPr>
      </p:pic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DC50E7B8-F643-C614-9316-63203B89C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9140" y="411988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20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CD0B0-407B-2117-F42B-8DD842C8F056}"/>
              </a:ext>
            </a:extLst>
          </p:cNvPr>
          <p:cNvSpPr/>
          <p:nvPr/>
        </p:nvSpPr>
        <p:spPr>
          <a:xfrm>
            <a:off x="0" y="0"/>
            <a:ext cx="494792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 descr="Bullseye with solid fill">
            <a:extLst>
              <a:ext uri="{FF2B5EF4-FFF2-40B4-BE49-F238E27FC236}">
                <a16:creationId xmlns:a16="http://schemas.microsoft.com/office/drawing/2014/main" id="{DD2FC2C1-9DCE-96C6-E236-BC8D9FFE9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760" y="1534160"/>
            <a:ext cx="2799080" cy="2799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761D5F-F761-8F95-038B-42913F5B8D84}"/>
              </a:ext>
            </a:extLst>
          </p:cNvPr>
          <p:cNvSpPr txBox="1"/>
          <p:nvPr/>
        </p:nvSpPr>
        <p:spPr>
          <a:xfrm>
            <a:off x="5374640" y="325120"/>
            <a:ext cx="587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Skills Demonstrated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D77B2D-C5B3-B1AD-31D1-CCCEFF738A4C}"/>
              </a:ext>
            </a:extLst>
          </p:cNvPr>
          <p:cNvSpPr/>
          <p:nvPr/>
        </p:nvSpPr>
        <p:spPr>
          <a:xfrm>
            <a:off x="5629760" y="1408916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0DC1EE-93BB-9382-0256-F73F7F3976B1}"/>
              </a:ext>
            </a:extLst>
          </p:cNvPr>
          <p:cNvSpPr/>
          <p:nvPr/>
        </p:nvSpPr>
        <p:spPr>
          <a:xfrm>
            <a:off x="5629760" y="2126049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A88BDC-B07D-66DD-99FE-892FD416A31F}"/>
              </a:ext>
            </a:extLst>
          </p:cNvPr>
          <p:cNvSpPr/>
          <p:nvPr/>
        </p:nvSpPr>
        <p:spPr>
          <a:xfrm>
            <a:off x="5625820" y="2879938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AE6FCE-E867-A5C5-2CAD-67F5921B6962}"/>
              </a:ext>
            </a:extLst>
          </p:cNvPr>
          <p:cNvSpPr/>
          <p:nvPr/>
        </p:nvSpPr>
        <p:spPr>
          <a:xfrm>
            <a:off x="5634720" y="3504203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11E30-E09E-B583-5183-48967A9E5A3F}"/>
              </a:ext>
            </a:extLst>
          </p:cNvPr>
          <p:cNvSpPr txBox="1"/>
          <p:nvPr/>
        </p:nvSpPr>
        <p:spPr>
          <a:xfrm>
            <a:off x="6004560" y="1310640"/>
            <a:ext cx="552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Data cleaning &amp; standardization (Excel / Python)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FD2C8-D62B-7B35-E561-AE18B53E0340}"/>
              </a:ext>
            </a:extLst>
          </p:cNvPr>
          <p:cNvSpPr txBox="1"/>
          <p:nvPr/>
        </p:nvSpPr>
        <p:spPr>
          <a:xfrm>
            <a:off x="6004560" y="2080717"/>
            <a:ext cx="552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Power BI dashboard design (Power Query, DAX)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9700B-6A5A-4E24-66F6-D02BE7282874}"/>
              </a:ext>
            </a:extLst>
          </p:cNvPr>
          <p:cNvSpPr txBox="1"/>
          <p:nvPr/>
        </p:nvSpPr>
        <p:spPr>
          <a:xfrm>
            <a:off x="6096000" y="2773680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Exploratory data analysis &amp; KPI definition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CA994-C1F3-26FD-7530-8E7710AC3AE1}"/>
              </a:ext>
            </a:extLst>
          </p:cNvPr>
          <p:cNvSpPr txBox="1"/>
          <p:nvPr/>
        </p:nvSpPr>
        <p:spPr>
          <a:xfrm>
            <a:off x="6096000" y="3466643"/>
            <a:ext cx="515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Business insight generation &amp; recommendations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B865D5-6CE0-E84E-AE96-7003C519170D}"/>
              </a:ext>
            </a:extLst>
          </p:cNvPr>
          <p:cNvCxnSpPr/>
          <p:nvPr/>
        </p:nvCxnSpPr>
        <p:spPr>
          <a:xfrm>
            <a:off x="4947920" y="4165600"/>
            <a:ext cx="724408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44FCA1F-BE4B-1F04-0595-5905F4E52FCA}"/>
              </a:ext>
            </a:extLst>
          </p:cNvPr>
          <p:cNvSpPr txBox="1"/>
          <p:nvPr/>
        </p:nvSpPr>
        <p:spPr>
          <a:xfrm>
            <a:off x="5659120" y="4305011"/>
            <a:ext cx="5659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Nisha K G</a:t>
            </a:r>
          </a:p>
          <a:p>
            <a:pPr lvl="0"/>
            <a:endParaRPr lang="en-IN" dirty="0">
              <a:solidFill>
                <a:schemeClr val="bg1">
                  <a:lumMod val="95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0"/>
            <a:r>
              <a:rPr lang="en-IN" dirty="0">
                <a:solidFill>
                  <a:schemeClr val="bg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nishakg2002@gmail.com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lvl="0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linkedin.com/in/nisha-kg-118476335</a:t>
            </a:r>
          </a:p>
          <a:p>
            <a:pPr lvl="0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github.com/nisha200256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2F312-7013-3266-AAF4-057EC759FC03}"/>
              </a:ext>
            </a:extLst>
          </p:cNvPr>
          <p:cNvSpPr txBox="1"/>
          <p:nvPr/>
        </p:nvSpPr>
        <p:spPr>
          <a:xfrm>
            <a:off x="5724720" y="6025152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4753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</TotalTime>
  <Words>823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 kg</dc:creator>
  <cp:lastModifiedBy>nisha kg</cp:lastModifiedBy>
  <cp:revision>2</cp:revision>
  <dcterms:created xsi:type="dcterms:W3CDTF">2026-09-28T06:43:19Z</dcterms:created>
  <dcterms:modified xsi:type="dcterms:W3CDTF">2026-09-29T05:11:36Z</dcterms:modified>
</cp:coreProperties>
</file>